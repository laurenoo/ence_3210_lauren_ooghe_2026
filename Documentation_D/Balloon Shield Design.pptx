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Inter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Inter-bold.fntdata"/><Relationship Id="rId21" Type="http://schemas.openxmlformats.org/officeDocument/2006/relationships/font" Target="fonts/Inter-regular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aef83c009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aef83c009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aef83c009d_0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aef83c009d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aef83c009d_0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aef83c009d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aef83c009d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aef83c009d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cf8f552cf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cf8f552cf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cf8f552cf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cf8f552cf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aef83c009d_0_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aef83c009d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aef83c009d_0_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aef83c009d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cf8f552cf7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cf8f552cf7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cf8f552cf7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cf8f552cf7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aef83c009d_0_6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aef83c009d_0_6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aef83c009d_0_6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aef83c009d_0_6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cf8f552cf7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cf8f552cf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cf8f552cf7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cf8f552cf7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aef83c009d_0_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aef83c009d_0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Anything anyone would like to add, any concerns?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1" name="Google Shape;31;p5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6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" name="Google Shape;37;p6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rgbClr val="0B5394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Google Shape;45;p7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53" name="Google Shape;53;p8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" name="Google Shape;82;p11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2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3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3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14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14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5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1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15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15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5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4" name="Google Shape;124;p16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16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16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" name="Google Shape;128;p16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16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" name="Google Shape;130;p1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16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2" name="Google Shape;132;p16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6" name="Google Shape;136;p17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7" name="Google Shape;137;p17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8" name="Google Shape;138;p17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17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1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7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8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48" name="Google Shape;148;p1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1" name="Google Shape;151;p18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2" name="Google Shape;152;p18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5" name="Google Shape;155;p19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6" name="Google Shape;156;p19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8" name="Google Shape;158;p19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9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1" name="Google Shape;161;p19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19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3" name="Google Shape;163;p1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0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20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20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0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0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2" name="Google Shape;172;p20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0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4" name="Google Shape;174;p20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0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1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1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1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1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21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2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1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2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21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1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1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1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21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1" name="Google Shape;191;p21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21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21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rgbClr val="6FA8DC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22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98" name="Google Shape;198;p22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9" name="Google Shape;199;p22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22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2" name="Google Shape;202;p22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3" name="Google Shape;203;p22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22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2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6" name="Google Shape;206;p22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7" name="Google Shape;207;p22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22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2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0" name="Google Shape;210;p22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1" name="Google Shape;211;p2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2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2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2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8" name="Google Shape;218;p23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9" name="Google Shape;219;p23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0" name="Google Shape;220;p23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1" name="Google Shape;221;p23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2" name="Google Shape;222;p23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3" name="Google Shape;223;p23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4" name="Google Shape;224;p23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5" name="Google Shape;225;p23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6" name="Google Shape;226;p23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7" name="Google Shape;227;p23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8" name="Google Shape;228;p2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23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0" name="Google Shape;230;p23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23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23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23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23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3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23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3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24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24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24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24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2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24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24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24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4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24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53" name="Google Shape;253;p2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2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9" name="Google Shape;259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8" name="Google Shape;268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3" name="Google Shape;27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8" name="Google Shape;27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9" name="Google Shape;27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4" name="Google Shape;28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1" name="Google Shape;29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0" name="Google Shape;300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1" name="Google Shape;301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2" name="Google Shape;302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3" name="Google Shape;303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8" name="Google Shape;308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9" name="Google Shape;309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4" name="Google Shape;314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5" name="Google Shape;315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6" name="Google Shape;316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7" name="Google Shape;317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8" name="Google Shape;318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9" name="Google Shape;319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0" name="Google Shape;320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1" name="Google Shape;321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7" name="Google Shape;327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0" name="Google Shape;33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2" name="Google Shape;332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5" name="Google Shape;335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8" name="Google Shape;338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0" name="Google Shape;34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2" name="Google Shape;34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3" name="Google Shape;34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gif"/><Relationship Id="rId4" Type="http://schemas.openxmlformats.org/officeDocument/2006/relationships/image" Target="../media/image1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hyperlink" Target="https://github.com/laurenoo/ENCE_3210_Lauren_Ooghe_2026/tree/main/Documentation_D" TargetMode="External"/><Relationship Id="rId5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FA8DC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1" name="Google Shape;361;p47"/>
          <p:cNvCxnSpPr/>
          <p:nvPr/>
        </p:nvCxnSpPr>
        <p:spPr>
          <a:xfrm flipH="1" rot="10800000">
            <a:off x="283850" y="1453134"/>
            <a:ext cx="5040300" cy="14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47"/>
          <p:cNvCxnSpPr/>
          <p:nvPr/>
        </p:nvCxnSpPr>
        <p:spPr>
          <a:xfrm>
            <a:off x="283850" y="829634"/>
            <a:ext cx="5003700" cy="129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3" name="Google Shape;363;p4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/>
              <a:t>‹#›</a:t>
            </a:fld>
            <a:endParaRPr sz="1200"/>
          </a:p>
        </p:txBody>
      </p:sp>
      <p:sp>
        <p:nvSpPr>
          <p:cNvPr id="364" name="Google Shape;364;p47"/>
          <p:cNvSpPr txBox="1"/>
          <p:nvPr>
            <p:ph type="title"/>
          </p:nvPr>
        </p:nvSpPr>
        <p:spPr>
          <a:xfrm>
            <a:off x="283850" y="224400"/>
            <a:ext cx="56031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Balloon Shield </a:t>
            </a:r>
            <a:r>
              <a:rPr lang="en" sz="5600"/>
              <a:t>Design</a:t>
            </a:r>
            <a:endParaRPr sz="5600"/>
          </a:p>
        </p:txBody>
      </p:sp>
      <p:sp>
        <p:nvSpPr>
          <p:cNvPr id="365" name="Google Shape;365;p4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March 13, 2026</a:t>
            </a:r>
            <a:endParaRPr sz="1200"/>
          </a:p>
        </p:txBody>
      </p:sp>
      <p:sp>
        <p:nvSpPr>
          <p:cNvPr id="366" name="Google Shape;366;p47"/>
          <p:cNvSpPr txBox="1"/>
          <p:nvPr>
            <p:ph idx="4" type="title"/>
          </p:nvPr>
        </p:nvSpPr>
        <p:spPr>
          <a:xfrm>
            <a:off x="288625" y="4778975"/>
            <a:ext cx="4227300" cy="16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Microprocessor Systems</a:t>
            </a:r>
            <a:endParaRPr sz="1200"/>
          </a:p>
        </p:txBody>
      </p:sp>
      <p:cxnSp>
        <p:nvCxnSpPr>
          <p:cNvPr id="367" name="Google Shape;367;p47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8" name="Google Shape;368;p47"/>
          <p:cNvSpPr txBox="1"/>
          <p:nvPr/>
        </p:nvSpPr>
        <p:spPr>
          <a:xfrm>
            <a:off x="243000" y="4228025"/>
            <a:ext cx="20964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Lauren Ooghe</a:t>
            </a:r>
            <a:endParaRPr b="1" sz="2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8"/>
          <p:cNvSpPr/>
          <p:nvPr/>
        </p:nvSpPr>
        <p:spPr>
          <a:xfrm>
            <a:off x="286350" y="3709375"/>
            <a:ext cx="8573100" cy="9696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4" name="Google Shape;374;p48"/>
          <p:cNvSpPr/>
          <p:nvPr/>
        </p:nvSpPr>
        <p:spPr>
          <a:xfrm>
            <a:off x="283850" y="3479875"/>
            <a:ext cx="8573100" cy="229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5" name="Google Shape;375;p48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376" name="Google Shape;376;p48"/>
          <p:cNvSpPr txBox="1"/>
          <p:nvPr>
            <p:ph idx="12" type="sldNum"/>
          </p:nvPr>
        </p:nvSpPr>
        <p:spPr>
          <a:xfrm>
            <a:off x="8310750" y="477897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/>
              <a:t>‹#›</a:t>
            </a:fld>
            <a:endParaRPr sz="1200"/>
          </a:p>
        </p:txBody>
      </p:sp>
      <p:sp>
        <p:nvSpPr>
          <p:cNvPr id="377" name="Google Shape;377;p48"/>
          <p:cNvSpPr/>
          <p:nvPr/>
        </p:nvSpPr>
        <p:spPr>
          <a:xfrm rot="5400000">
            <a:off x="4182410" y="915734"/>
            <a:ext cx="659347" cy="659347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78" name="Google Shape;378;p48"/>
          <p:cNvCxnSpPr/>
          <p:nvPr/>
        </p:nvCxnSpPr>
        <p:spPr>
          <a:xfrm>
            <a:off x="283850" y="2895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" name="Google Shape;379;p48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0" name="Google Shape;380;p48"/>
          <p:cNvSpPr txBox="1"/>
          <p:nvPr/>
        </p:nvSpPr>
        <p:spPr>
          <a:xfrm>
            <a:off x="286350" y="1386300"/>
            <a:ext cx="3930300" cy="20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The</a:t>
            </a: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purpose of this project is to apply technical skills in researching and developing alternative solutions to a design. 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This project incorporates an electrical system used in a weather balloon that retrieves data parameters such as pressure, </a:t>
            </a: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humidity</a:t>
            </a: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, temperature, and position.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81" name="Google Shape;381;p48" title="Screenshot 2026-03-12 at 3.50.0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4300" y="577037"/>
            <a:ext cx="2506849" cy="261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/>
              <a:t>‹#›</a:t>
            </a:fld>
            <a:endParaRPr sz="1200"/>
          </a:p>
        </p:txBody>
      </p:sp>
      <p:sp>
        <p:nvSpPr>
          <p:cNvPr id="387" name="Google Shape;387;p49"/>
          <p:cNvSpPr txBox="1"/>
          <p:nvPr>
            <p:ph type="title"/>
          </p:nvPr>
        </p:nvSpPr>
        <p:spPr>
          <a:xfrm>
            <a:off x="284850" y="285900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Stage: </a:t>
            </a:r>
            <a:r>
              <a:rPr b="1" lang="en"/>
              <a:t>Phase 1</a:t>
            </a:r>
            <a:endParaRPr b="1"/>
          </a:p>
        </p:txBody>
      </p:sp>
      <p:sp>
        <p:nvSpPr>
          <p:cNvPr id="388" name="Google Shape;388;p49"/>
          <p:cNvSpPr/>
          <p:nvPr/>
        </p:nvSpPr>
        <p:spPr>
          <a:xfrm rot="10800000">
            <a:off x="8484660" y="9"/>
            <a:ext cx="659347" cy="659347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89" name="Google Shape;389;p49"/>
          <p:cNvCxnSpPr/>
          <p:nvPr/>
        </p:nvCxnSpPr>
        <p:spPr>
          <a:xfrm>
            <a:off x="226125" y="4782132"/>
            <a:ext cx="857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90" name="Google Shape;390;p49" title="Microprocessors 13.png"/>
          <p:cNvPicPr preferRelativeResize="0"/>
          <p:nvPr/>
        </p:nvPicPr>
        <p:blipFill rotWithShape="1">
          <a:blip r:embed="rId3">
            <a:alphaModFix/>
          </a:blip>
          <a:srcRect b="7142" l="3188" r="7254" t="22356"/>
          <a:stretch/>
        </p:blipFill>
        <p:spPr>
          <a:xfrm>
            <a:off x="840400" y="881025"/>
            <a:ext cx="6904535" cy="3776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FA8DC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  <p:sp>
        <p:nvSpPr>
          <p:cNvPr id="396" name="Google Shape;396;p50"/>
          <p:cNvSpPr txBox="1"/>
          <p:nvPr>
            <p:ph type="title"/>
          </p:nvPr>
        </p:nvSpPr>
        <p:spPr>
          <a:xfrm>
            <a:off x="284850" y="285900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1: Power Consumption</a:t>
            </a:r>
            <a:endParaRPr/>
          </a:p>
        </p:txBody>
      </p:sp>
      <p:sp>
        <p:nvSpPr>
          <p:cNvPr id="397" name="Google Shape;397;p50"/>
          <p:cNvSpPr/>
          <p:nvPr/>
        </p:nvSpPr>
        <p:spPr>
          <a:xfrm rot="10800000">
            <a:off x="8484660" y="9"/>
            <a:ext cx="659347" cy="659347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8" name="Google Shape;398;p50"/>
          <p:cNvSpPr txBox="1"/>
          <p:nvPr/>
        </p:nvSpPr>
        <p:spPr>
          <a:xfrm>
            <a:off x="5209800" y="966100"/>
            <a:ext cx="3274800" cy="38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●"/>
            </a:pP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Estimated current draw for each </a:t>
            </a: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component</a:t>
            </a: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of original design</a:t>
            </a:r>
            <a:endParaRPr sz="1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●"/>
            </a:pP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Receiving 5 V from the Arduino</a:t>
            </a:r>
            <a:endParaRPr sz="1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○"/>
            </a:pP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The 9 V battery is regulated by the Arduino’s </a:t>
            </a: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onboard</a:t>
            </a: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regulator.</a:t>
            </a:r>
            <a:endParaRPr sz="1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○"/>
            </a:pP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This energy is lost or ‘wasted’ in the form of heat.</a:t>
            </a:r>
            <a:endParaRPr sz="1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99" name="Google Shape;399;p50" title="Microprocessors 14.png"/>
          <p:cNvPicPr preferRelativeResize="0"/>
          <p:nvPr/>
        </p:nvPicPr>
        <p:blipFill rotWithShape="1">
          <a:blip r:embed="rId3">
            <a:alphaModFix/>
          </a:blip>
          <a:srcRect b="2051" l="9128" r="35918" t="25737"/>
          <a:stretch/>
        </p:blipFill>
        <p:spPr>
          <a:xfrm>
            <a:off x="428900" y="917412"/>
            <a:ext cx="4286100" cy="391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FA8DC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  <p:sp>
        <p:nvSpPr>
          <p:cNvPr id="405" name="Google Shape;405;p51"/>
          <p:cNvSpPr txBox="1"/>
          <p:nvPr>
            <p:ph type="title"/>
          </p:nvPr>
        </p:nvSpPr>
        <p:spPr>
          <a:xfrm>
            <a:off x="284850" y="285900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1: Total Weight Approx.</a:t>
            </a:r>
            <a:endParaRPr/>
          </a:p>
        </p:txBody>
      </p:sp>
      <p:sp>
        <p:nvSpPr>
          <p:cNvPr id="406" name="Google Shape;406;p51"/>
          <p:cNvSpPr/>
          <p:nvPr/>
        </p:nvSpPr>
        <p:spPr>
          <a:xfrm rot="10800000">
            <a:off x="8484660" y="9"/>
            <a:ext cx="659347" cy="659347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7" name="Google Shape;407;p51"/>
          <p:cNvSpPr txBox="1"/>
          <p:nvPr/>
        </p:nvSpPr>
        <p:spPr>
          <a:xfrm>
            <a:off x="222575" y="2359663"/>
            <a:ext cx="3274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●"/>
            </a:pP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Estimated weight in grams of each </a:t>
            </a: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onboard electrical component.</a:t>
            </a:r>
            <a:endParaRPr sz="1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08" name="Google Shape;408;p51" title="Microprocessors 15.png"/>
          <p:cNvPicPr preferRelativeResize="0"/>
          <p:nvPr/>
        </p:nvPicPr>
        <p:blipFill rotWithShape="1">
          <a:blip r:embed="rId3">
            <a:alphaModFix/>
          </a:blip>
          <a:srcRect b="7604" l="16141" r="27893" t="26788"/>
          <a:stretch/>
        </p:blipFill>
        <p:spPr>
          <a:xfrm>
            <a:off x="3768450" y="979825"/>
            <a:ext cx="4761723" cy="387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/>
              <a:t>‹#›</a:t>
            </a:fld>
            <a:endParaRPr sz="1200"/>
          </a:p>
        </p:txBody>
      </p:sp>
      <p:sp>
        <p:nvSpPr>
          <p:cNvPr id="414" name="Google Shape;414;p52"/>
          <p:cNvSpPr txBox="1"/>
          <p:nvPr>
            <p:ph type="title"/>
          </p:nvPr>
        </p:nvSpPr>
        <p:spPr>
          <a:xfrm>
            <a:off x="284850" y="285900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Stage: </a:t>
            </a:r>
            <a:r>
              <a:rPr b="1" lang="en"/>
              <a:t>Phase 2</a:t>
            </a:r>
            <a:endParaRPr b="1"/>
          </a:p>
        </p:txBody>
      </p:sp>
      <p:sp>
        <p:nvSpPr>
          <p:cNvPr id="415" name="Google Shape;415;p52"/>
          <p:cNvSpPr/>
          <p:nvPr/>
        </p:nvSpPr>
        <p:spPr>
          <a:xfrm rot="10800000">
            <a:off x="8484660" y="9"/>
            <a:ext cx="659347" cy="659347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16" name="Google Shape;416;p52"/>
          <p:cNvCxnSpPr/>
          <p:nvPr/>
        </p:nvCxnSpPr>
        <p:spPr>
          <a:xfrm>
            <a:off x="226125" y="4782132"/>
            <a:ext cx="857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17" name="Google Shape;417;p52" title="Microprocessors 12.png"/>
          <p:cNvPicPr preferRelativeResize="0"/>
          <p:nvPr/>
        </p:nvPicPr>
        <p:blipFill rotWithShape="1">
          <a:blip r:embed="rId3">
            <a:alphaModFix/>
          </a:blip>
          <a:srcRect b="5118" l="2259" r="5931" t="23402"/>
          <a:stretch/>
        </p:blipFill>
        <p:spPr>
          <a:xfrm>
            <a:off x="805700" y="879675"/>
            <a:ext cx="6987540" cy="3779677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52"/>
          <p:cNvSpPr/>
          <p:nvPr/>
        </p:nvSpPr>
        <p:spPr>
          <a:xfrm>
            <a:off x="5535350" y="1013625"/>
            <a:ext cx="1927200" cy="1083900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9" name="Google Shape;419;p52"/>
          <p:cNvSpPr/>
          <p:nvPr/>
        </p:nvSpPr>
        <p:spPr>
          <a:xfrm>
            <a:off x="4329775" y="4416650"/>
            <a:ext cx="814800" cy="24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/>
              <a:t>‹#›</a:t>
            </a:fld>
            <a:endParaRPr sz="1200"/>
          </a:p>
        </p:txBody>
      </p:sp>
      <p:sp>
        <p:nvSpPr>
          <p:cNvPr id="425" name="Google Shape;425;p53"/>
          <p:cNvSpPr txBox="1"/>
          <p:nvPr>
            <p:ph type="title"/>
          </p:nvPr>
        </p:nvSpPr>
        <p:spPr>
          <a:xfrm>
            <a:off x="281700" y="311375"/>
            <a:ext cx="6400800" cy="327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Design Implementation</a:t>
            </a:r>
            <a:endParaRPr b="1" sz="2500"/>
          </a:p>
        </p:txBody>
      </p:sp>
      <p:sp>
        <p:nvSpPr>
          <p:cNvPr id="426" name="Google Shape;426;p53"/>
          <p:cNvSpPr txBox="1"/>
          <p:nvPr>
            <p:ph idx="1" type="body"/>
          </p:nvPr>
        </p:nvSpPr>
        <p:spPr>
          <a:xfrm>
            <a:off x="288625" y="720675"/>
            <a:ext cx="2773200" cy="30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FC5E8"/>
                </a:solidFill>
              </a:rPr>
              <a:t>Overview of design stage.</a:t>
            </a:r>
            <a:endParaRPr>
              <a:solidFill>
                <a:srgbClr val="9FC5E8"/>
              </a:solidFill>
            </a:endParaRPr>
          </a:p>
        </p:txBody>
      </p:sp>
      <p:sp>
        <p:nvSpPr>
          <p:cNvPr id="427" name="Google Shape;427;p53"/>
          <p:cNvSpPr txBox="1"/>
          <p:nvPr>
            <p:ph idx="4" type="subTitle"/>
          </p:nvPr>
        </p:nvSpPr>
        <p:spPr>
          <a:xfrm>
            <a:off x="319575" y="1288525"/>
            <a:ext cx="2168100" cy="90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Component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Search</a:t>
            </a:r>
            <a:endParaRPr sz="3000"/>
          </a:p>
        </p:txBody>
      </p:sp>
      <p:sp>
        <p:nvSpPr>
          <p:cNvPr id="428" name="Google Shape;428;p53"/>
          <p:cNvSpPr txBox="1"/>
          <p:nvPr>
            <p:ph idx="6" type="subTitle"/>
          </p:nvPr>
        </p:nvSpPr>
        <p:spPr>
          <a:xfrm>
            <a:off x="2684175" y="1704075"/>
            <a:ext cx="22254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6FA8DC"/>
                </a:solidFill>
              </a:rPr>
              <a:t>Schematic Design</a:t>
            </a:r>
            <a:endParaRPr sz="3000">
              <a:solidFill>
                <a:srgbClr val="6FA8DC"/>
              </a:solidFill>
            </a:endParaRPr>
          </a:p>
        </p:txBody>
      </p:sp>
      <p:sp>
        <p:nvSpPr>
          <p:cNvPr id="429" name="Google Shape;429;p53"/>
          <p:cNvSpPr txBox="1"/>
          <p:nvPr>
            <p:ph idx="8" type="subTitle"/>
          </p:nvPr>
        </p:nvSpPr>
        <p:spPr>
          <a:xfrm>
            <a:off x="4932600" y="17040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PCB Layout</a:t>
            </a:r>
            <a:endParaRPr sz="3000"/>
          </a:p>
        </p:txBody>
      </p:sp>
      <p:sp>
        <p:nvSpPr>
          <p:cNvPr id="430" name="Google Shape;430;p53"/>
          <p:cNvSpPr txBox="1"/>
          <p:nvPr>
            <p:ph idx="13" type="subTitle"/>
          </p:nvPr>
        </p:nvSpPr>
        <p:spPr>
          <a:xfrm>
            <a:off x="6908425" y="17040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6FA8DC"/>
                </a:solidFill>
              </a:rPr>
              <a:t>Finalizing Design</a:t>
            </a:r>
            <a:endParaRPr sz="3000">
              <a:solidFill>
                <a:srgbClr val="6FA8DC"/>
              </a:solidFill>
            </a:endParaRPr>
          </a:p>
        </p:txBody>
      </p:sp>
      <p:cxnSp>
        <p:nvCxnSpPr>
          <p:cNvPr id="431" name="Google Shape;431;p53"/>
          <p:cNvCxnSpPr/>
          <p:nvPr/>
        </p:nvCxnSpPr>
        <p:spPr>
          <a:xfrm>
            <a:off x="314789" y="2367150"/>
            <a:ext cx="8575500" cy="0"/>
          </a:xfrm>
          <a:prstGeom prst="straightConnector1">
            <a:avLst/>
          </a:prstGeom>
          <a:noFill/>
          <a:ln cap="flat" cmpd="sng" w="19050">
            <a:solidFill>
              <a:srgbClr val="9FC5E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2" name="Google Shape;432;p53"/>
          <p:cNvSpPr/>
          <p:nvPr/>
        </p:nvSpPr>
        <p:spPr>
          <a:xfrm>
            <a:off x="2513920" y="2331200"/>
            <a:ext cx="72000" cy="72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3" name="Google Shape;433;p53"/>
          <p:cNvSpPr/>
          <p:nvPr/>
        </p:nvSpPr>
        <p:spPr>
          <a:xfrm>
            <a:off x="300270" y="2331200"/>
            <a:ext cx="72000" cy="72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4" name="Google Shape;434;p53"/>
          <p:cNvSpPr/>
          <p:nvPr/>
        </p:nvSpPr>
        <p:spPr>
          <a:xfrm>
            <a:off x="4713057" y="2331200"/>
            <a:ext cx="72000" cy="72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5" name="Google Shape;435;p53"/>
          <p:cNvSpPr/>
          <p:nvPr/>
        </p:nvSpPr>
        <p:spPr>
          <a:xfrm>
            <a:off x="6908425" y="2331200"/>
            <a:ext cx="72000" cy="72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6" name="Google Shape;436;p53"/>
          <p:cNvSpPr/>
          <p:nvPr/>
        </p:nvSpPr>
        <p:spPr>
          <a:xfrm>
            <a:off x="8818257" y="2331200"/>
            <a:ext cx="72000" cy="72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7" name="Google Shape;437;p53"/>
          <p:cNvSpPr txBox="1"/>
          <p:nvPr/>
        </p:nvSpPr>
        <p:spPr>
          <a:xfrm>
            <a:off x="319575" y="2624775"/>
            <a:ext cx="20508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01422" lvl="0" marL="23774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→"/>
            </a:pP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Main goal to replace the humidity sensor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01422" lvl="0" marL="23774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→"/>
            </a:pP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Found Honeywell HDC-1080 SMD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01422" lvl="0" marL="23774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→"/>
            </a:pP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Also changed the accelerometer for lower cost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8" name="Google Shape;438;p53"/>
          <p:cNvSpPr txBox="1"/>
          <p:nvPr/>
        </p:nvSpPr>
        <p:spPr>
          <a:xfrm>
            <a:off x="2487650" y="2624775"/>
            <a:ext cx="2050800" cy="15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1422" lvl="0" marL="23774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→"/>
            </a:pP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Following the block diagram, components were added to the schematic on KiCad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9" name="Google Shape;439;p53"/>
          <p:cNvSpPr txBox="1"/>
          <p:nvPr/>
        </p:nvSpPr>
        <p:spPr>
          <a:xfrm>
            <a:off x="4660325" y="2624775"/>
            <a:ext cx="2050800" cy="15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1422" lvl="0" marL="23774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→"/>
            </a:pP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Arranged  components for most practical traces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01422" lvl="0" marL="23774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→"/>
            </a:pP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Ensure OpenLog was </a:t>
            </a: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positioned</a:t>
            </a: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to have access to SD card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0" name="Google Shape;440;p53"/>
          <p:cNvSpPr txBox="1"/>
          <p:nvPr/>
        </p:nvSpPr>
        <p:spPr>
          <a:xfrm>
            <a:off x="6833000" y="2624775"/>
            <a:ext cx="2050800" cy="15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1422" lvl="0" marL="23774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→"/>
            </a:pP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All final renderings and files put together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01422" lvl="0" marL="23774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→"/>
            </a:pP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Added to GitHub for documentation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41" name="Google Shape;441;p53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FA8DC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/>
              <a:t>‹#›</a:t>
            </a:fld>
            <a:endParaRPr sz="1200"/>
          </a:p>
        </p:txBody>
      </p:sp>
      <p:sp>
        <p:nvSpPr>
          <p:cNvPr id="447" name="Google Shape;447;p54"/>
          <p:cNvSpPr txBox="1"/>
          <p:nvPr>
            <p:ph type="title"/>
          </p:nvPr>
        </p:nvSpPr>
        <p:spPr>
          <a:xfrm>
            <a:off x="284850" y="285900"/>
            <a:ext cx="6423900" cy="9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2: Components &amp; Cost Breakdown</a:t>
            </a:r>
            <a:endParaRPr/>
          </a:p>
        </p:txBody>
      </p:sp>
      <p:sp>
        <p:nvSpPr>
          <p:cNvPr id="448" name="Google Shape;448;p54"/>
          <p:cNvSpPr/>
          <p:nvPr/>
        </p:nvSpPr>
        <p:spPr>
          <a:xfrm rot="10800000">
            <a:off x="8484660" y="9"/>
            <a:ext cx="659347" cy="659347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9" name="Google Shape;449;p54"/>
          <p:cNvSpPr txBox="1"/>
          <p:nvPr/>
        </p:nvSpPr>
        <p:spPr>
          <a:xfrm>
            <a:off x="7242900" y="2296363"/>
            <a:ext cx="1901100" cy="13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*NOTE:</a:t>
            </a:r>
            <a:endParaRPr b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Estimate made under the assumption that basic materials such as soldering kit, wires, resistors, and headers are provided.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50" name="Google Shape;450;p54" title="cost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800" y="1440575"/>
            <a:ext cx="6871759" cy="3303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54"/>
          <p:cNvSpPr/>
          <p:nvPr/>
        </p:nvSpPr>
        <p:spPr>
          <a:xfrm>
            <a:off x="284800" y="4336575"/>
            <a:ext cx="5801400" cy="4455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FA8DC"/>
        </a:soli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  <p:sp>
        <p:nvSpPr>
          <p:cNvPr id="457" name="Google Shape;457;p55"/>
          <p:cNvSpPr txBox="1"/>
          <p:nvPr>
            <p:ph type="title"/>
          </p:nvPr>
        </p:nvSpPr>
        <p:spPr>
          <a:xfrm>
            <a:off x="284850" y="285900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2: Power Consumption</a:t>
            </a:r>
            <a:endParaRPr/>
          </a:p>
        </p:txBody>
      </p:sp>
      <p:sp>
        <p:nvSpPr>
          <p:cNvPr id="458" name="Google Shape;458;p55"/>
          <p:cNvSpPr/>
          <p:nvPr/>
        </p:nvSpPr>
        <p:spPr>
          <a:xfrm rot="10800000">
            <a:off x="8484660" y="9"/>
            <a:ext cx="659347" cy="659347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9" name="Google Shape;459;p55"/>
          <p:cNvSpPr txBox="1"/>
          <p:nvPr/>
        </p:nvSpPr>
        <p:spPr>
          <a:xfrm>
            <a:off x="5047350" y="1991725"/>
            <a:ext cx="3274800" cy="12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●"/>
            </a:pP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Estimated current draw for each component</a:t>
            </a:r>
            <a:endParaRPr sz="1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●"/>
            </a:pP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Not much different than original design</a:t>
            </a:r>
            <a:endParaRPr sz="1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60" name="Google Shape;460;p55" title="Microprocessors 17.png"/>
          <p:cNvPicPr preferRelativeResize="0"/>
          <p:nvPr/>
        </p:nvPicPr>
        <p:blipFill rotWithShape="1">
          <a:blip r:embed="rId3">
            <a:alphaModFix/>
          </a:blip>
          <a:srcRect b="28746" l="7990" r="12581" t="20848"/>
          <a:stretch/>
        </p:blipFill>
        <p:spPr>
          <a:xfrm>
            <a:off x="487249" y="1008825"/>
            <a:ext cx="4084750" cy="3730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FA8DC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/>
              <a:t>‹#›</a:t>
            </a:fld>
            <a:endParaRPr sz="1200"/>
          </a:p>
        </p:txBody>
      </p:sp>
      <p:sp>
        <p:nvSpPr>
          <p:cNvPr id="466" name="Google Shape;466;p56"/>
          <p:cNvSpPr txBox="1"/>
          <p:nvPr>
            <p:ph type="title"/>
          </p:nvPr>
        </p:nvSpPr>
        <p:spPr>
          <a:xfrm>
            <a:off x="284850" y="390075"/>
            <a:ext cx="76986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2: Total Weight Approx.</a:t>
            </a:r>
            <a:endParaRPr/>
          </a:p>
        </p:txBody>
      </p:sp>
      <p:sp>
        <p:nvSpPr>
          <p:cNvPr id="467" name="Google Shape;467;p56"/>
          <p:cNvSpPr/>
          <p:nvPr/>
        </p:nvSpPr>
        <p:spPr>
          <a:xfrm rot="10800000">
            <a:off x="8484660" y="9"/>
            <a:ext cx="659347" cy="659347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68" name="Google Shape;468;p56" title="Microprocessors 16.png"/>
          <p:cNvPicPr preferRelativeResize="0"/>
          <p:nvPr/>
        </p:nvPicPr>
        <p:blipFill rotWithShape="1">
          <a:blip r:embed="rId3">
            <a:alphaModFix/>
          </a:blip>
          <a:srcRect b="21723" l="2482" r="3859" t="22132"/>
          <a:stretch/>
        </p:blipFill>
        <p:spPr>
          <a:xfrm>
            <a:off x="353300" y="1054326"/>
            <a:ext cx="4206804" cy="3629399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56"/>
          <p:cNvSpPr txBox="1"/>
          <p:nvPr/>
        </p:nvSpPr>
        <p:spPr>
          <a:xfrm>
            <a:off x="4796250" y="2306575"/>
            <a:ext cx="40116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Total weight of onboard electronics: 90g - 95g</a:t>
            </a:r>
            <a:endParaRPr b="1" sz="1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5" name="Google Shape;475;p57"/>
          <p:cNvSpPr txBox="1"/>
          <p:nvPr/>
        </p:nvSpPr>
        <p:spPr>
          <a:xfrm>
            <a:off x="284850" y="285900"/>
            <a:ext cx="64239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Inter"/>
                <a:ea typeface="Inter"/>
                <a:cs typeface="Inter"/>
                <a:sym typeface="Inter"/>
              </a:rPr>
              <a:t>Schematics</a:t>
            </a:r>
            <a:endParaRPr sz="36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76" name="Google Shape;476;p57" title="Screenshot 2026-03-12 at 4.34.4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850"/>
            <a:ext cx="9143998" cy="4871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8"/>
          <p:cNvSpPr txBox="1"/>
          <p:nvPr>
            <p:ph idx="6" type="subTitle"/>
          </p:nvPr>
        </p:nvSpPr>
        <p:spPr>
          <a:xfrm>
            <a:off x="877475" y="184325"/>
            <a:ext cx="2582400" cy="5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PCB Layout</a:t>
            </a:r>
            <a:endParaRPr/>
          </a:p>
        </p:txBody>
      </p:sp>
      <p:sp>
        <p:nvSpPr>
          <p:cNvPr id="482" name="Google Shape;482;p5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/>
              <a:t>‹#›</a:t>
            </a:fld>
            <a:endParaRPr sz="1200"/>
          </a:p>
        </p:txBody>
      </p:sp>
      <p:sp>
        <p:nvSpPr>
          <p:cNvPr id="483" name="Google Shape;483;p58"/>
          <p:cNvSpPr/>
          <p:nvPr/>
        </p:nvSpPr>
        <p:spPr>
          <a:xfrm rot="5400000">
            <a:off x="10" y="9"/>
            <a:ext cx="659347" cy="659347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84" name="Google Shape;484;p58" title="Screenshot 2026-03-12 at 4.37.3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013" y="765425"/>
            <a:ext cx="4162774" cy="4199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58" title="Screenshot 2026-03-12 at 4.38.0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2075" y="765438"/>
            <a:ext cx="4162749" cy="41997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9"/>
          <p:cNvSpPr txBox="1"/>
          <p:nvPr>
            <p:ph idx="6" type="subTitle"/>
          </p:nvPr>
        </p:nvSpPr>
        <p:spPr>
          <a:xfrm>
            <a:off x="889500" y="285900"/>
            <a:ext cx="3134400" cy="5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PCB 3D Render</a:t>
            </a:r>
            <a:endParaRPr/>
          </a:p>
        </p:txBody>
      </p:sp>
      <p:sp>
        <p:nvSpPr>
          <p:cNvPr id="491" name="Google Shape;491;p5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/>
              <a:t>‹#›</a:t>
            </a:fld>
            <a:endParaRPr sz="1200"/>
          </a:p>
        </p:txBody>
      </p:sp>
      <p:sp>
        <p:nvSpPr>
          <p:cNvPr id="492" name="Google Shape;492;p59"/>
          <p:cNvSpPr/>
          <p:nvPr/>
        </p:nvSpPr>
        <p:spPr>
          <a:xfrm rot="5400000">
            <a:off x="10" y="9"/>
            <a:ext cx="659347" cy="659347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93" name="Google Shape;493;p59" title="Screenshot 2026-03-12 at 4.41.0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2075" y="867000"/>
            <a:ext cx="4168298" cy="4221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59" title="Screenshot 2026-03-12 at 4.43.2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867000"/>
            <a:ext cx="4168299" cy="4195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0"/>
          <p:cNvSpPr txBox="1"/>
          <p:nvPr>
            <p:ph idx="6" type="subTitle"/>
          </p:nvPr>
        </p:nvSpPr>
        <p:spPr>
          <a:xfrm>
            <a:off x="889500" y="285900"/>
            <a:ext cx="3134400" cy="5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PCB 3D Render</a:t>
            </a:r>
            <a:endParaRPr/>
          </a:p>
        </p:txBody>
      </p:sp>
      <p:sp>
        <p:nvSpPr>
          <p:cNvPr id="500" name="Google Shape;500;p6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/>
              <a:t>‹#›</a:t>
            </a:fld>
            <a:endParaRPr sz="1200"/>
          </a:p>
        </p:txBody>
      </p:sp>
      <p:sp>
        <p:nvSpPr>
          <p:cNvPr id="501" name="Google Shape;501;p60"/>
          <p:cNvSpPr/>
          <p:nvPr/>
        </p:nvSpPr>
        <p:spPr>
          <a:xfrm rot="5400000">
            <a:off x="10" y="9"/>
            <a:ext cx="659347" cy="659347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02" name="Google Shape;502;p60" title="amhqek.gif"/>
          <p:cNvPicPr preferRelativeResize="0"/>
          <p:nvPr/>
        </p:nvPicPr>
        <p:blipFill rotWithShape="1">
          <a:blip r:embed="rId3">
            <a:alphaModFix/>
          </a:blip>
          <a:srcRect b="6446" l="0" r="0" t="0"/>
          <a:stretch/>
        </p:blipFill>
        <p:spPr>
          <a:xfrm>
            <a:off x="3760600" y="1031650"/>
            <a:ext cx="4792150" cy="339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60" title="PCB_FRONT_3D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019400"/>
            <a:ext cx="3429773" cy="3424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61"/>
          <p:cNvSpPr txBox="1"/>
          <p:nvPr/>
        </p:nvSpPr>
        <p:spPr>
          <a:xfrm>
            <a:off x="284300" y="1442575"/>
            <a:ext cx="27723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Any questions?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09" name="Google Shape;509;p61"/>
          <p:cNvCxnSpPr/>
          <p:nvPr/>
        </p:nvCxnSpPr>
        <p:spPr>
          <a:xfrm>
            <a:off x="283850" y="1116850"/>
            <a:ext cx="277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0" name="Google Shape;510;p61"/>
          <p:cNvSpPr txBox="1"/>
          <p:nvPr/>
        </p:nvSpPr>
        <p:spPr>
          <a:xfrm>
            <a:off x="284700" y="456375"/>
            <a:ext cx="2054700" cy="6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Q&amp;A</a:t>
            </a:r>
            <a:endParaRPr sz="6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1" name="Google Shape;511;p6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/>
              <a:t>‹#›</a:t>
            </a:fld>
            <a:endParaRPr sz="1200"/>
          </a:p>
        </p:txBody>
      </p:sp>
      <p:sp>
        <p:nvSpPr>
          <p:cNvPr id="512" name="Google Shape;512;p6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December 11, 2025</a:t>
            </a:r>
            <a:endParaRPr sz="800"/>
          </a:p>
        </p:txBody>
      </p:sp>
      <p:cxnSp>
        <p:nvCxnSpPr>
          <p:cNvPr id="513" name="Google Shape;513;p61"/>
          <p:cNvCxnSpPr/>
          <p:nvPr/>
        </p:nvCxnSpPr>
        <p:spPr>
          <a:xfrm>
            <a:off x="218725" y="3100575"/>
            <a:ext cx="277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4" name="Google Shape;514;p61"/>
          <p:cNvCxnSpPr/>
          <p:nvPr/>
        </p:nvCxnSpPr>
        <p:spPr>
          <a:xfrm>
            <a:off x="283850" y="285900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" name="Google Shape;515;p61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16" name="Google Shape;516;p61" title="image-Picsart-BackgroundRemov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850" y="4198250"/>
            <a:ext cx="485476" cy="48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61" title="image-Picsart-BackgroundRemov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0950" y="4198250"/>
            <a:ext cx="485476" cy="48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61" title="image-Picsart-BackgroundRemov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2550" y="4198250"/>
            <a:ext cx="485476" cy="48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61" title="image-Picsart-BackgroundRemov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6750" y="4198250"/>
            <a:ext cx="485476" cy="48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61" title="image-Picsart-BackgroundRemov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2400" y="4198250"/>
            <a:ext cx="485476" cy="485476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61"/>
          <p:cNvSpPr txBox="1"/>
          <p:nvPr/>
        </p:nvSpPr>
        <p:spPr>
          <a:xfrm>
            <a:off x="284300" y="1947800"/>
            <a:ext cx="27723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GitHub Repository linked below. Scan QR code.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2" name="Google Shape;522;p61"/>
          <p:cNvSpPr txBox="1"/>
          <p:nvPr/>
        </p:nvSpPr>
        <p:spPr>
          <a:xfrm>
            <a:off x="283850" y="3377725"/>
            <a:ext cx="8415600" cy="6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https://github.com/laurenoo/ENCE_3210_Lauren_Ooghe_2026/tree/main/Documentation_D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23" name="Google Shape;523;p61" title="QR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08375" y="456384"/>
            <a:ext cx="2442750" cy="2450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